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embeddedFontLs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12">
          <p15:clr>
            <a:srgbClr val="A4A3A4"/>
          </p15:clr>
        </p15:guide>
        <p15:guide id="2" orient="horz" pos="852">
          <p15:clr>
            <a:srgbClr val="A4A3A4"/>
          </p15:clr>
        </p15:guide>
        <p15:guide id="3" pos="1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12" orient="horz"/>
        <p:guide pos="852" orient="horz"/>
        <p:guide pos="1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344c5d55f_0_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d344c5d55f_0_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d344c5d55f_0_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344c5d55f_0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g3d344c5d55f_0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d344c5d55f_0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344c5d55f_0_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d344c5d55f_0_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d344c5d55f_0_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 flipH="1">
            <a:off x="0" y="4974576"/>
            <a:ext cx="9144000" cy="168924"/>
            <a:chOff x="0" y="-38100"/>
            <a:chExt cx="4402382" cy="104564"/>
          </a:xfrm>
        </p:grpSpPr>
        <p:sp>
          <p:nvSpPr>
            <p:cNvPr id="7" name="Google Shape;7;p1"/>
            <p:cNvSpPr/>
            <p:nvPr/>
          </p:nvSpPr>
          <p:spPr>
            <a:xfrm>
              <a:off x="0" y="0"/>
              <a:ext cx="4402382" cy="66464"/>
            </a:xfrm>
            <a:custGeom>
              <a:rect b="b" l="l" r="r" t="t"/>
              <a:pathLst>
                <a:path extrusionOk="0" h="66464" w="4402382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;p1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oogle Shape;9;p1"/>
          <p:cNvGrpSpPr/>
          <p:nvPr/>
        </p:nvGrpSpPr>
        <p:grpSpPr>
          <a:xfrm>
            <a:off x="0" y="-243173"/>
            <a:ext cx="9144000" cy="667379"/>
            <a:chOff x="0" y="-38100"/>
            <a:chExt cx="4402382" cy="104564"/>
          </a:xfrm>
        </p:grpSpPr>
        <p:sp>
          <p:nvSpPr>
            <p:cNvPr id="10" name="Google Shape;10;p1"/>
            <p:cNvSpPr/>
            <p:nvPr/>
          </p:nvSpPr>
          <p:spPr>
            <a:xfrm>
              <a:off x="0" y="0"/>
              <a:ext cx="4402382" cy="66464"/>
            </a:xfrm>
            <a:custGeom>
              <a:rect b="b" l="l" r="r" t="t"/>
              <a:pathLst>
                <a:path extrusionOk="0" h="66464" w="4402382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1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black and white logo&#10;&#10;AI-generated content may be incorrect."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20696" y="55166"/>
            <a:ext cx="965086" cy="31387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oai47TYarCgjErOuYKSOmoATWnO2K_Om/view" TargetMode="External"/><Relationship Id="rId4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364882" y="652908"/>
            <a:ext cx="3603333" cy="4850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1D63B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" name="Google Shape;20;p4"/>
          <p:cNvGrpSpPr/>
          <p:nvPr/>
        </p:nvGrpSpPr>
        <p:grpSpPr>
          <a:xfrm>
            <a:off x="0" y="-72331"/>
            <a:ext cx="4153368" cy="198509"/>
            <a:chOff x="0" y="-38100"/>
            <a:chExt cx="2187782" cy="104564"/>
          </a:xfrm>
        </p:grpSpPr>
        <p:sp>
          <p:nvSpPr>
            <p:cNvPr id="21" name="Google Shape;21;p4"/>
            <p:cNvSpPr/>
            <p:nvPr/>
          </p:nvSpPr>
          <p:spPr>
            <a:xfrm>
              <a:off x="0" y="0"/>
              <a:ext cx="2187782" cy="66464"/>
            </a:xfrm>
            <a:custGeom>
              <a:rect b="b" l="l" r="r" t="t"/>
              <a:pathLst>
                <a:path extrusionOk="0" h="66464" w="2187782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4"/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4"/>
          <p:cNvGrpSpPr/>
          <p:nvPr/>
        </p:nvGrpSpPr>
        <p:grpSpPr>
          <a:xfrm>
            <a:off x="0" y="4944991"/>
            <a:ext cx="7571294" cy="198509"/>
            <a:chOff x="0" y="-38100"/>
            <a:chExt cx="3988171" cy="104564"/>
          </a:xfrm>
        </p:grpSpPr>
        <p:sp>
          <p:nvSpPr>
            <p:cNvPr id="24" name="Google Shape;24;p4"/>
            <p:cNvSpPr/>
            <p:nvPr/>
          </p:nvSpPr>
          <p:spPr>
            <a:xfrm>
              <a:off x="0" y="0"/>
              <a:ext cx="3988171" cy="66464"/>
            </a:xfrm>
            <a:custGeom>
              <a:rect b="b" l="l" r="r" t="t"/>
              <a:pathLst>
                <a:path extrusionOk="0" h="66464" w="3988171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26;p4"/>
          <p:cNvGrpSpPr/>
          <p:nvPr/>
        </p:nvGrpSpPr>
        <p:grpSpPr>
          <a:xfrm rot="2700000">
            <a:off x="3687342" y="-590735"/>
            <a:ext cx="4602320" cy="2195587"/>
            <a:chOff x="0" y="-38100"/>
            <a:chExt cx="2424267" cy="1156523"/>
          </a:xfrm>
        </p:grpSpPr>
        <p:sp>
          <p:nvSpPr>
            <p:cNvPr id="27" name="Google Shape;27;p4"/>
            <p:cNvSpPr/>
            <p:nvPr/>
          </p:nvSpPr>
          <p:spPr>
            <a:xfrm>
              <a:off x="0" y="0"/>
              <a:ext cx="2424267" cy="1118423"/>
            </a:xfrm>
            <a:custGeom>
              <a:rect b="b" l="l" r="r" t="t"/>
              <a:pathLst>
                <a:path extrusionOk="0" h="1118423" w="2424267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4"/>
          <p:cNvGrpSpPr/>
          <p:nvPr/>
        </p:nvGrpSpPr>
        <p:grpSpPr>
          <a:xfrm rot="2700000">
            <a:off x="5657931" y="242183"/>
            <a:ext cx="3724082" cy="1136725"/>
            <a:chOff x="0" y="-38100"/>
            <a:chExt cx="1961656" cy="598768"/>
          </a:xfrm>
        </p:grpSpPr>
        <p:sp>
          <p:nvSpPr>
            <p:cNvPr id="30" name="Google Shape;30;p4"/>
            <p:cNvSpPr/>
            <p:nvPr/>
          </p:nvSpPr>
          <p:spPr>
            <a:xfrm>
              <a:off x="0" y="0"/>
              <a:ext cx="1961656" cy="560668"/>
            </a:xfrm>
            <a:custGeom>
              <a:rect b="b" l="l" r="r" t="t"/>
              <a:pathLst>
                <a:path extrusionOk="0" h="560668" w="1961656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" name="Google Shape;32;p4"/>
          <p:cNvGrpSpPr/>
          <p:nvPr/>
        </p:nvGrpSpPr>
        <p:grpSpPr>
          <a:xfrm rot="2700000">
            <a:off x="7553790" y="-954554"/>
            <a:ext cx="2873959" cy="2039351"/>
            <a:chOff x="0" y="-38100"/>
            <a:chExt cx="1513855" cy="1074226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1513855" cy="1036126"/>
            </a:xfrm>
            <a:custGeom>
              <a:rect b="b" l="l" r="r" t="t"/>
              <a:pathLst>
                <a:path extrusionOk="0" h="1036126" w="1513855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 rot="2700000">
            <a:off x="6782413" y="3941960"/>
            <a:ext cx="4602320" cy="2195587"/>
            <a:chOff x="0" y="-38100"/>
            <a:chExt cx="2424267" cy="1156523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2424267" cy="1118423"/>
            </a:xfrm>
            <a:custGeom>
              <a:rect b="b" l="l" r="r" t="t"/>
              <a:pathLst>
                <a:path extrusionOk="0" h="1118423" w="2424267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4"/>
          <p:cNvGrpSpPr/>
          <p:nvPr/>
        </p:nvGrpSpPr>
        <p:grpSpPr>
          <a:xfrm rot="2700000">
            <a:off x="7867768" y="3610781"/>
            <a:ext cx="2166949" cy="1198519"/>
            <a:chOff x="0" y="-38100"/>
            <a:chExt cx="1141438" cy="631319"/>
          </a:xfrm>
        </p:grpSpPr>
        <p:sp>
          <p:nvSpPr>
            <p:cNvPr id="39" name="Google Shape;39;p4"/>
            <p:cNvSpPr/>
            <p:nvPr/>
          </p:nvSpPr>
          <p:spPr>
            <a:xfrm>
              <a:off x="0" y="0"/>
              <a:ext cx="1141438" cy="593219"/>
            </a:xfrm>
            <a:custGeom>
              <a:rect b="b" l="l" r="r" t="t"/>
              <a:pathLst>
                <a:path extrusionOk="0" h="593219" w="1141438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4"/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42" name="Google Shape;42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>
              <a:gsLst>
                <a:gs pos="0">
                  <a:srgbClr val="042882"/>
                </a:gs>
                <a:gs pos="100000">
                  <a:srgbClr val="2A83D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4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425" lIns="29425" spcFirstLastPara="1" rIns="29425" wrap="square" tIns="29425">
              <a:noAutofit/>
            </a:bodyPr>
            <a:lstStyle/>
            <a:p>
              <a:pPr indent="0" lvl="0" marL="0" marR="0" rtl="0" algn="ctr">
                <a:lnSpc>
                  <a:spcPct val="1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" name="Google Shape;44;p4"/>
          <p:cNvSpPr/>
          <p:nvPr/>
        </p:nvSpPr>
        <p:spPr>
          <a:xfrm>
            <a:off x="4814816" y="492813"/>
            <a:ext cx="857064" cy="159628"/>
          </a:xfrm>
          <a:custGeom>
            <a:rect b="b" l="l" r="r" t="t"/>
            <a:pathLst>
              <a:path extrusionOk="0" h="319256" w="1714127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435937" y="4382878"/>
            <a:ext cx="857064" cy="159628"/>
          </a:xfrm>
          <a:custGeom>
            <a:rect b="b" l="l" r="r" t="t"/>
            <a:pathLst>
              <a:path extrusionOk="0" h="319256" w="1714127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726258" y="4572000"/>
            <a:ext cx="857064" cy="159628"/>
          </a:xfrm>
          <a:custGeom>
            <a:rect b="b" l="l" r="r" t="t"/>
            <a:pathLst>
              <a:path extrusionOk="0" h="319256" w="1714127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" name="Google Shape;47;p4"/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48" name="Google Shape;48;p4"/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0" y="0"/>
                <a:ext cx="4355842" cy="406400"/>
              </a:xfrm>
              <a:custGeom>
                <a:rect b="b" l="l" r="r" t="t"/>
                <a:pathLst>
                  <a:path extrusionOk="0" h="406400" w="4355842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42882"/>
                  </a:gs>
                  <a:gs pos="100000">
                    <a:srgbClr val="2A83D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4"/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" name="Google Shape;51;p4"/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87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PRESENTATION 2026</a:t>
              </a:r>
              <a:endParaRPr/>
            </a:p>
          </p:txBody>
        </p:sp>
      </p:grpSp>
      <p:sp>
        <p:nvSpPr>
          <p:cNvPr id="52" name="Google Shape;52;p4"/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 Name</a:t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854979" y="3806607"/>
            <a:ext cx="163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D358D"/>
                </a:solidFill>
              </a:rPr>
              <a:t>Aditi Singh</a:t>
            </a:r>
            <a:endParaRPr/>
          </a:p>
        </p:txBody>
      </p:sp>
      <p:pic>
        <p:nvPicPr>
          <p:cNvPr descr="A blue circle with a person and a envelope in it&#10;&#10;AI-generated content may be incorrect." id="54" name="Google Shape;54;p4"/>
          <p:cNvPicPr preferRelativeResize="0"/>
          <p:nvPr/>
        </p:nvPicPr>
        <p:blipFill rotWithShape="1">
          <a:blip r:embed="rId4">
            <a:alphaModFix/>
          </a:blip>
          <a:srcRect b="53701" l="26757" r="27842" t="2453"/>
          <a:stretch/>
        </p:blipFill>
        <p:spPr>
          <a:xfrm>
            <a:off x="429808" y="3639905"/>
            <a:ext cx="395331" cy="38179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 Email</a:t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3176086" y="3803810"/>
            <a:ext cx="227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D358D"/>
                </a:solidFill>
              </a:rPr>
              <a:t>aditizasha@gmail.com</a:t>
            </a:r>
            <a:endParaRPr/>
          </a:p>
        </p:txBody>
      </p:sp>
      <p:pic>
        <p:nvPicPr>
          <p:cNvPr descr="A blue circle with a person and a envelope in it&#10;&#10;AI-generated content may be incorrect." id="57" name="Google Shape;57;p4"/>
          <p:cNvPicPr preferRelativeResize="0"/>
          <p:nvPr/>
        </p:nvPicPr>
        <p:blipFill rotWithShape="1">
          <a:blip r:embed="rId4">
            <a:alphaModFix/>
          </a:blip>
          <a:srcRect b="2349" l="26859" r="26874" t="52379"/>
          <a:stretch/>
        </p:blipFill>
        <p:spPr>
          <a:xfrm>
            <a:off x="2747249" y="3631981"/>
            <a:ext cx="398279" cy="3897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4"/>
          <p:cNvGrpSpPr/>
          <p:nvPr/>
        </p:nvGrpSpPr>
        <p:grpSpPr>
          <a:xfrm>
            <a:off x="860459" y="4337076"/>
            <a:ext cx="2272800" cy="346384"/>
            <a:chOff x="3139699" y="4295282"/>
            <a:chExt cx="2272800" cy="346384"/>
          </a:xfrm>
        </p:grpSpPr>
        <p:sp>
          <p:nvSpPr>
            <p:cNvPr id="59" name="Google Shape;59;p4"/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Mentor Name</a:t>
              </a:r>
              <a:endParaRPr/>
            </a:p>
          </p:txBody>
        </p:sp>
        <p:sp>
          <p:nvSpPr>
            <p:cNvPr id="60" name="Google Shape;60;p4"/>
            <p:cNvSpPr txBox="1"/>
            <p:nvPr/>
          </p:nvSpPr>
          <p:spPr>
            <a:xfrm>
              <a:off x="3139699" y="4456866"/>
              <a:ext cx="2272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9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D358D"/>
                  </a:solidFill>
                </a:rPr>
                <a:t>Abdul Aziz Md</a:t>
              </a:r>
              <a:endParaRPr/>
            </a:p>
          </p:txBody>
        </p:sp>
      </p:grpSp>
      <p:pic>
        <p:nvPicPr>
          <p:cNvPr id="61" name="Google Shape;61;p4"/>
          <p:cNvPicPr preferRelativeResize="0"/>
          <p:nvPr/>
        </p:nvPicPr>
        <p:blipFill rotWithShape="1">
          <a:blip r:embed="rId5">
            <a:alphaModFix/>
          </a:blip>
          <a:srcRect b="49509" l="28109" r="28551" t="6546"/>
          <a:stretch/>
        </p:blipFill>
        <p:spPr>
          <a:xfrm>
            <a:off x="447718" y="4346948"/>
            <a:ext cx="375815" cy="3810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4"/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descr="A blue and black logo&#10;&#10;AI-generated content may be incorrect." id="63" name="Google Shape;6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68621" y="826472"/>
              <a:ext cx="632879" cy="1588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close up of a logo&#10;&#10;AI-generated content may be incorrect." id="64" name="Google Shape;64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70437" y="826472"/>
              <a:ext cx="564448" cy="183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5" name="Google Shape;65;p4"/>
          <p:cNvSpPr/>
          <p:nvPr/>
        </p:nvSpPr>
        <p:spPr>
          <a:xfrm rot="-3404029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 rot="-3404029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 rot="-3404029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 rot="-3404029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4"/>
          <p:cNvPicPr preferRelativeResize="0"/>
          <p:nvPr/>
        </p:nvPicPr>
        <p:blipFill rotWithShape="1">
          <a:blip r:embed="rId8">
            <a:alphaModFix/>
          </a:blip>
          <a:srcRect b="19729" l="0" r="0" t="0"/>
          <a:stretch/>
        </p:blipFill>
        <p:spPr>
          <a:xfrm>
            <a:off x="173754" y="1046557"/>
            <a:ext cx="3854253" cy="1849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Outline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Abstract of the Project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Proposed Solution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System Architecture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Live Demo of the Project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Embedded Video of Project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/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Future Scope</a:t>
            </a:r>
            <a:endParaRPr/>
          </a:p>
        </p:txBody>
      </p:sp>
      <p:pic>
        <p:nvPicPr>
          <p:cNvPr descr="A screen shot of a computer&#10;&#10;AI-generated content may be incorrect." id="77" name="Google Shape;77;p5"/>
          <p:cNvPicPr preferRelativeResize="0"/>
          <p:nvPr/>
        </p:nvPicPr>
        <p:blipFill rotWithShape="1">
          <a:blip r:embed="rId3">
            <a:alphaModFix/>
          </a:blip>
          <a:srcRect b="28715" l="25250" r="18976" t="7320"/>
          <a:stretch/>
        </p:blipFill>
        <p:spPr>
          <a:xfrm>
            <a:off x="5378824" y="1034325"/>
            <a:ext cx="2868706" cy="3290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Abstract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125251" y="1082800"/>
            <a:ext cx="5634600" cy="4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project focuses on analyzing banking customer data using AI-powered tools and data visualization.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objective is to monitor customer financial health, identify high-risk and inactive accounts, and track loan exposure.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Tools used: Microsoft Excel, Power BI, ChatGPT, and Microsoft Copilot.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project delivers an interactive dashboard for better decision-making and risk management.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Key highlight: AI-assisted insights for identifying financial patterns and improving customer engagement.</a:t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814470" y="1082801"/>
            <a:ext cx="3070450" cy="2997875"/>
          </a:xfrm>
          <a:custGeom>
            <a:rect b="b" l="l" r="r" t="t"/>
            <a:pathLst>
              <a:path extrusionOk="0" h="4017541" w="4114800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8151" y="873760"/>
            <a:ext cx="3947240" cy="39472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7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125240" y="1082801"/>
            <a:ext cx="47628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Banks generate massive customer data but it is underutilized due to lack of centralized analysis.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Difficulty in identifying inactive accounts and high-risk customers.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Challenges in tracking loan exposure and customer segmentation.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Lack of tools to monitor financial health and detect unusual activity.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Existing systems do not provide actionable insights for decision-making.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0286" y="725532"/>
            <a:ext cx="4903714" cy="420318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Proposed Solution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t/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Develop an AI-driven dashboard using Power BI for customer analytics.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Clean and preprocess data using Excel.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Analyze customer activity, loan exposure, and risk levels.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Use AI tools (ChatGPT, Copilot) to generate insights and recommendations.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Provide a centralized system for better financial monitoring and decision-making.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System Architecture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Input / Source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Simulated dataset of 1600 ICICI Bank customers.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Processing / Analysis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Data cleaning and preprocessing using Excel.</a:t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Lato"/>
              <a:buChar char="●"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Analysis using Power BI.</a:t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AI / Tool Integration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Lato"/>
              <a:buChar char="●"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ChatGPT and Microsoft Copilot for insights.</a:t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Lato"/>
              <a:buChar char="●"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Power BI for visualization.</a:t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Output / Dashboard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Lato"/>
              <a:buNone/>
            </a:pPr>
            <a:r>
              <a:rPr lang="en-US" sz="16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Interactive dashboard with KPIs, charts, and customer insights.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/>
          <p:nvPr/>
        </p:nvSpPr>
        <p:spPr>
          <a:xfrm>
            <a:off x="120623" y="60729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Live Demo of Project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125487" y="1105839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Here's the list of some demo screenshots / features of the project: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99925" y="1617425"/>
            <a:ext cx="2863200" cy="3231000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120625" y="1829150"/>
            <a:ext cx="293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Demo 1 Dashboard Overview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228600" y="2338675"/>
            <a:ext cx="2834400" cy="24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Displays a comprehensive Power BI dashboard with key performance indicators such as total customers, total current balance, total loan amount, and average balance.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Provides insights into customer segmentation, loan exposure, risk distribution, and account activity (active vs inactive).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Enables quick analysis of customer financial health and supports data-driven decision-making for banking operations.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6163056" y="2413802"/>
            <a:ext cx="278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7" name="Google Shape;137;p10" title="Capture Dashboar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7775" y="1593525"/>
            <a:ext cx="5857224" cy="327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120623" y="60729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Live Demo of Project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25487" y="1105839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Here's the list of some demo screenshots / features of the project: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274327" y="1648225"/>
            <a:ext cx="3921000" cy="3200400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330875" y="1710750"/>
            <a:ext cx="38079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Demo 2 Customer Segment-wise Balance Distribution by Account Type</a:t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378125" y="2307324"/>
            <a:ext cx="3713400" cy="24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Segment-wise Balance Distribution by Account Type.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Shows distribution of current balance across different customer segments (Corporate, SME, Retail) and account types (Business, Current, Salary, Savings).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Helps identify which customer segment and account type contribute the most to total balance.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Char char="●"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Provides insights into customer financial behavior for better segmentation and targeting.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Lato"/>
              <a:buChar char="●"/>
            </a:pPr>
            <a:r>
              <a:t/>
            </a: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6163056" y="2413802"/>
            <a:ext cx="278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0" name="Google Shape;150;p11" title="Capture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625" y="1648225"/>
            <a:ext cx="4412825" cy="315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/>
          <p:nvPr/>
        </p:nvSpPr>
        <p:spPr>
          <a:xfrm>
            <a:off x="120623" y="60729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Live Demo of Project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125487" y="1105839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</a:pP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Here's the list of some demo screenshots / features of the project: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274376" y="1698700"/>
            <a:ext cx="3265200" cy="3150000"/>
          </a:xfrm>
          <a:prstGeom prst="rect">
            <a:avLst/>
          </a:prstGeom>
          <a:solidFill>
            <a:srgbClr val="D8E2F3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243775" y="1769800"/>
            <a:ext cx="32652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b="1"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Demo 3 Customer Risk Distribution &amp; Active vs Inactive Account Analysis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347575" y="2298100"/>
            <a:ext cx="3057600" cy="261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Displays the distribution of customers across different risk categories (Low, Medium, High) with percentage representation.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Shows active and inactive account status to identify customer engagement levels.</a:t>
            </a:r>
            <a:endParaRPr sz="13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Helps in identifying high-risk and inactive customers, supporting better risk management and retention strategies.</a:t>
            </a:r>
            <a:endParaRPr sz="1300"/>
          </a:p>
        </p:txBody>
      </p:sp>
      <p:sp>
        <p:nvSpPr>
          <p:cNvPr id="161" name="Google Shape;161;p12"/>
          <p:cNvSpPr/>
          <p:nvPr/>
        </p:nvSpPr>
        <p:spPr>
          <a:xfrm>
            <a:off x="6163056" y="2413802"/>
            <a:ext cx="2788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3" name="Google Shape;163;p12" title="Capture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575" y="2177970"/>
            <a:ext cx="5285275" cy="2191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B3A8A"/>
                </a:solidFill>
                <a:latin typeface="Calibri"/>
                <a:ea typeface="Calibri"/>
                <a:cs typeface="Calibri"/>
                <a:sym typeface="Calibri"/>
              </a:rPr>
              <a:t>Video of Project Demo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cap="flat" cmpd="sng" w="25400">
            <a:solidFill>
              <a:srgbClr val="1B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[https://your-project-demo-link.com]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[Insert your project demo video.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You can embed a video your live project.]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3" title="WhatsApp Video 2026-04-06 at 01.46.2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The project successfully developed an AI-driven dashboard for banking analytics.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It helps identify high-risk customers and inactive accounts.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Provides insights into loan exposure and customer financial health.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Supports better decision-making and risk management.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Project objectives were successfully achieved.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b="1"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blue circle with a pencil and paper with a star on it&#10;&#10;AI-generated content may be incorrect." id="189" name="Google Shape;189;p14"/>
          <p:cNvPicPr preferRelativeResize="0"/>
          <p:nvPr/>
        </p:nvPicPr>
        <p:blipFill rotWithShape="1">
          <a:blip r:embed="rId3">
            <a:alphaModFix/>
          </a:blip>
          <a:srcRect b="29752" l="25397" r="26825" t="26296"/>
          <a:stretch/>
        </p:blipFill>
        <p:spPr>
          <a:xfrm>
            <a:off x="4898406" y="971550"/>
            <a:ext cx="3597456" cy="3309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8A"/>
              </a:buClr>
              <a:buSzPts val="2000"/>
              <a:buFont typeface="Lato"/>
              <a:buNone/>
            </a:pPr>
            <a:r>
              <a:rPr b="1" lang="en-US" sz="2000">
                <a:solidFill>
                  <a:srgbClr val="1B3A8A"/>
                </a:solidFill>
                <a:latin typeface="Lato"/>
                <a:ea typeface="Lato"/>
                <a:cs typeface="Lato"/>
                <a:sym typeface="Lato"/>
              </a:rPr>
              <a:t>Future Scope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Integration with real-time banking data.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Use of machine learning for risk prediction.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Advanced fraud detection systems.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Personalized banking recommendations.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Lato"/>
                <a:ea typeface="Lato"/>
                <a:cs typeface="Lato"/>
                <a:sym typeface="Lato"/>
              </a:rPr>
              <a:t>Cloud-based deployment for scalability.</a:t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Lato"/>
              <a:buNone/>
            </a:pPr>
            <a:r>
              <a:t/>
            </a:r>
            <a:endParaRPr sz="1800">
              <a:solidFill>
                <a:srgbClr val="1A1A2E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7" name="Google Shape;1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1635" y="879613"/>
            <a:ext cx="4512365" cy="338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</a:pPr>
            <a:r>
              <a:rPr lang="en-US"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AICW Fellowship  |  Student Project Presentation 2026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ato"/>
              <a:buNone/>
            </a:pPr>
            <a:r>
              <a:rPr lang="en-US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LinkedIn  |   Edunet Foundation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3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D358D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