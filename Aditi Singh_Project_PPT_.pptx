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2">
          <p15:clr>
            <a:srgbClr val="A4A3A4"/>
          </p15:clr>
        </p15:guide>
        <p15:guide id="2" orient="horz" pos="852">
          <p15:clr>
            <a:srgbClr val="A4A3A4"/>
          </p15:clr>
        </p15:guide>
        <p15:guide id="3" pos="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2" orient="horz"/>
        <p:guide pos="852" orient="horz"/>
        <p:guide pos="1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e34ab6b4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g3de34ab6b4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344c5d55f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d344c5d55f_0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344c5d55f_0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344c5d55f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d344c5d55f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d344c5d55f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44c5d55f_0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d344c5d55f_0_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344c5d55f_0_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 flipH="1">
            <a:off x="0" y="4974576"/>
            <a:ext cx="9144000" cy="168924"/>
            <a:chOff x="0" y="-38100"/>
            <a:chExt cx="4402382" cy="104564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4402382" cy="66464"/>
            </a:xfrm>
            <a:custGeom>
              <a:rect b="b" l="l" r="r" t="t"/>
              <a:pathLst>
                <a:path extrusionOk="0" h="66464" w="4402382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9;p1"/>
          <p:cNvGrpSpPr/>
          <p:nvPr/>
        </p:nvGrpSpPr>
        <p:grpSpPr>
          <a:xfrm>
            <a:off x="0" y="-243173"/>
            <a:ext cx="9144000" cy="667379"/>
            <a:chOff x="0" y="-38100"/>
            <a:chExt cx="4402382" cy="104564"/>
          </a:xfrm>
        </p:grpSpPr>
        <p:sp>
          <p:nvSpPr>
            <p:cNvPr id="10" name="Google Shape;10;p1"/>
            <p:cNvSpPr/>
            <p:nvPr/>
          </p:nvSpPr>
          <p:spPr>
            <a:xfrm>
              <a:off x="0" y="0"/>
              <a:ext cx="4402382" cy="66464"/>
            </a:xfrm>
            <a:custGeom>
              <a:rect b="b" l="l" r="r" t="t"/>
              <a:pathLst>
                <a:path extrusionOk="0" h="66464" w="4402382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black and white logo&#10;&#10;AI-generated content may be incorrect."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0696" y="55166"/>
            <a:ext cx="965086" cy="31387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oai47TYarCgjErOuYKSOmoATWnO2K_Om/view" TargetMode="External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64882" y="652908"/>
            <a:ext cx="3603300" cy="48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D63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20;p4"/>
          <p:cNvGrpSpPr/>
          <p:nvPr/>
        </p:nvGrpSpPr>
        <p:grpSpPr>
          <a:xfrm>
            <a:off x="0" y="-72329"/>
            <a:ext cx="4153509" cy="198762"/>
            <a:chOff x="0" y="-38100"/>
            <a:chExt cx="2187900" cy="104700"/>
          </a:xfrm>
        </p:grpSpPr>
        <p:sp>
          <p:nvSpPr>
            <p:cNvPr id="21" name="Google Shape;21;p4"/>
            <p:cNvSpPr/>
            <p:nvPr/>
          </p:nvSpPr>
          <p:spPr>
            <a:xfrm>
              <a:off x="0" y="0"/>
              <a:ext cx="2187782" cy="66464"/>
            </a:xfrm>
            <a:custGeom>
              <a:rect b="b" l="l" r="r" t="t"/>
              <a:pathLst>
                <a:path extrusionOk="0" h="66464" w="2187782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4"/>
            <p:cNvSpPr txBox="1"/>
            <p:nvPr/>
          </p:nvSpPr>
          <p:spPr>
            <a:xfrm>
              <a:off x="0" y="-38100"/>
              <a:ext cx="2187900" cy="1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4"/>
          <p:cNvGrpSpPr/>
          <p:nvPr/>
        </p:nvGrpSpPr>
        <p:grpSpPr>
          <a:xfrm>
            <a:off x="0" y="4944993"/>
            <a:ext cx="7571199" cy="198762"/>
            <a:chOff x="0" y="-38100"/>
            <a:chExt cx="3988200" cy="104700"/>
          </a:xfrm>
        </p:grpSpPr>
        <p:sp>
          <p:nvSpPr>
            <p:cNvPr id="24" name="Google Shape;24;p4"/>
            <p:cNvSpPr/>
            <p:nvPr/>
          </p:nvSpPr>
          <p:spPr>
            <a:xfrm>
              <a:off x="0" y="0"/>
              <a:ext cx="3988171" cy="66464"/>
            </a:xfrm>
            <a:custGeom>
              <a:rect b="b" l="l" r="r" t="t"/>
              <a:pathLst>
                <a:path extrusionOk="0" h="66464" w="3988171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 txBox="1"/>
            <p:nvPr/>
          </p:nvSpPr>
          <p:spPr>
            <a:xfrm>
              <a:off x="0" y="-38100"/>
              <a:ext cx="3988200" cy="1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6;p4"/>
          <p:cNvGrpSpPr/>
          <p:nvPr/>
        </p:nvGrpSpPr>
        <p:grpSpPr>
          <a:xfrm rot="2700000">
            <a:off x="3687331" y="-590711"/>
            <a:ext cx="4602389" cy="2195590"/>
            <a:chOff x="0" y="-38100"/>
            <a:chExt cx="2424300" cy="1156523"/>
          </a:xfrm>
        </p:grpSpPr>
        <p:sp>
          <p:nvSpPr>
            <p:cNvPr id="27" name="Google Shape;27;p4"/>
            <p:cNvSpPr/>
            <p:nvPr/>
          </p:nvSpPr>
          <p:spPr>
            <a:xfrm>
              <a:off x="0" y="0"/>
              <a:ext cx="2424267" cy="1118423"/>
            </a:xfrm>
            <a:custGeom>
              <a:rect b="b" l="l" r="r" t="t"/>
              <a:pathLst>
                <a:path extrusionOk="0" h="1118423" w="2424267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 txBox="1"/>
            <p:nvPr/>
          </p:nvSpPr>
          <p:spPr>
            <a:xfrm>
              <a:off x="0" y="-38100"/>
              <a:ext cx="2424300" cy="11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 rot="2700000">
            <a:off x="5657896" y="242205"/>
            <a:ext cx="3724170" cy="1136786"/>
            <a:chOff x="0" y="-38100"/>
            <a:chExt cx="1961700" cy="598800"/>
          </a:xfrm>
        </p:grpSpPr>
        <p:sp>
          <p:nvSpPr>
            <p:cNvPr id="30" name="Google Shape;30;p4"/>
            <p:cNvSpPr/>
            <p:nvPr/>
          </p:nvSpPr>
          <p:spPr>
            <a:xfrm>
              <a:off x="0" y="0"/>
              <a:ext cx="1961656" cy="560668"/>
            </a:xfrm>
            <a:custGeom>
              <a:rect b="b" l="l" r="r" t="t"/>
              <a:pathLst>
                <a:path extrusionOk="0" h="560668" w="1961656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 txBox="1"/>
            <p:nvPr/>
          </p:nvSpPr>
          <p:spPr>
            <a:xfrm>
              <a:off x="0" y="-38100"/>
              <a:ext cx="1961700" cy="5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32;p4"/>
          <p:cNvGrpSpPr/>
          <p:nvPr/>
        </p:nvGrpSpPr>
        <p:grpSpPr>
          <a:xfrm rot="2700000">
            <a:off x="7553739" y="-954573"/>
            <a:ext cx="2873963" cy="2039494"/>
            <a:chOff x="0" y="-38100"/>
            <a:chExt cx="1513855" cy="1074300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1513855" cy="1036126"/>
            </a:xfrm>
            <a:custGeom>
              <a:rect b="b" l="l" r="r" t="t"/>
              <a:pathLst>
                <a:path extrusionOk="0" h="1036126" w="1513855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0" y="-38100"/>
              <a:ext cx="1513800" cy="10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 rot="2700000">
            <a:off x="6782402" y="3941984"/>
            <a:ext cx="4602389" cy="2195590"/>
            <a:chOff x="0" y="-38100"/>
            <a:chExt cx="2424300" cy="1156523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2424267" cy="1118423"/>
            </a:xfrm>
            <a:custGeom>
              <a:rect b="b" l="l" r="r" t="t"/>
              <a:pathLst>
                <a:path extrusionOk="0" h="1118423" w="2424267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0" y="-38100"/>
              <a:ext cx="2424300" cy="11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4"/>
          <p:cNvGrpSpPr/>
          <p:nvPr/>
        </p:nvGrpSpPr>
        <p:grpSpPr>
          <a:xfrm rot="2700000">
            <a:off x="7867749" y="3610823"/>
            <a:ext cx="2167070" cy="1198521"/>
            <a:chOff x="0" y="-38100"/>
            <a:chExt cx="1141500" cy="631319"/>
          </a:xfrm>
        </p:grpSpPr>
        <p:sp>
          <p:nvSpPr>
            <p:cNvPr id="39" name="Google Shape;39;p4"/>
            <p:cNvSpPr/>
            <p:nvPr/>
          </p:nvSpPr>
          <p:spPr>
            <a:xfrm>
              <a:off x="0" y="0"/>
              <a:ext cx="1141438" cy="593219"/>
            </a:xfrm>
            <a:custGeom>
              <a:rect b="b" l="l" r="r" t="t"/>
              <a:pathLst>
                <a:path extrusionOk="0" h="593219" w="1141438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0" y="-38100"/>
              <a:ext cx="11415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5720497" y="768985"/>
            <a:ext cx="3475695" cy="3475695"/>
            <a:chOff x="0" y="0"/>
            <a:chExt cx="812800" cy="812800"/>
          </a:xfrm>
        </p:grpSpPr>
        <p:sp>
          <p:nvSpPr>
            <p:cNvPr id="42" name="Google Shape;42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425" lIns="29425" spcFirstLastPara="1" rIns="29425" wrap="square" tIns="29425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4"/>
          <p:cNvSpPr/>
          <p:nvPr/>
        </p:nvSpPr>
        <p:spPr>
          <a:xfrm>
            <a:off x="4814816" y="492813"/>
            <a:ext cx="857064" cy="159628"/>
          </a:xfrm>
          <a:custGeom>
            <a:rect b="b" l="l" r="r" t="t"/>
            <a:pathLst>
              <a:path extrusionOk="0" h="319256" w="1714127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435937" y="4382878"/>
            <a:ext cx="857063" cy="159628"/>
          </a:xfrm>
          <a:custGeom>
            <a:rect b="b" l="l" r="r" t="t"/>
            <a:pathLst>
              <a:path extrusionOk="0" h="319256" w="1714127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726258" y="4572000"/>
            <a:ext cx="857063" cy="159628"/>
          </a:xfrm>
          <a:custGeom>
            <a:rect b="b" l="l" r="r" t="t"/>
            <a:pathLst>
              <a:path extrusionOk="0" h="319256" w="1714127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4"/>
          <p:cNvGrpSpPr/>
          <p:nvPr/>
        </p:nvGrpSpPr>
        <p:grpSpPr>
          <a:xfrm>
            <a:off x="-19007" y="2928677"/>
            <a:ext cx="4276125" cy="431173"/>
            <a:chOff x="0" y="2985846"/>
            <a:chExt cx="4276125" cy="431173"/>
          </a:xfrm>
        </p:grpSpPr>
        <p:grpSp>
          <p:nvGrpSpPr>
            <p:cNvPr id="48" name="Google Shape;48;p4"/>
            <p:cNvGrpSpPr/>
            <p:nvPr/>
          </p:nvGrpSpPr>
          <p:grpSpPr>
            <a:xfrm>
              <a:off x="0" y="2985846"/>
              <a:ext cx="4224296" cy="431173"/>
              <a:chOff x="0" y="-38100"/>
              <a:chExt cx="4355842" cy="444600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rect b="b" l="l" r="r" t="t"/>
                <a:pathLst>
                  <a:path extrusionOk="0" h="406400" w="4355842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42882"/>
                  </a:gs>
                  <a:gs pos="100000">
                    <a:srgbClr val="2A83D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4"/>
              <p:cNvSpPr txBox="1"/>
              <p:nvPr/>
            </p:nvSpPr>
            <p:spPr>
              <a:xfrm>
                <a:off x="0" y="-38100"/>
                <a:ext cx="42414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" name="Google Shape;51;p4"/>
            <p:cNvSpPr txBox="1"/>
            <p:nvPr/>
          </p:nvSpPr>
          <p:spPr>
            <a:xfrm>
              <a:off x="466725" y="3100839"/>
              <a:ext cx="3809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87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PRESENTATION 2026</a:t>
              </a:r>
              <a:endParaRPr/>
            </a:p>
          </p:txBody>
        </p:sp>
      </p:grpSp>
      <p:sp>
        <p:nvSpPr>
          <p:cNvPr id="52" name="Google Shape;52;p4"/>
          <p:cNvSpPr txBox="1"/>
          <p:nvPr/>
        </p:nvSpPr>
        <p:spPr>
          <a:xfrm>
            <a:off x="2302781" y="4344678"/>
            <a:ext cx="163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2302779" y="4471625"/>
            <a:ext cx="163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358D"/>
                </a:solidFill>
              </a:rPr>
              <a:t>Aditi Singh</a:t>
            </a:r>
            <a:endParaRPr/>
          </a:p>
        </p:txBody>
      </p:sp>
      <p:pic>
        <p:nvPicPr>
          <p:cNvPr descr="A blue circle with a person and a envelope in it&#10;&#10;AI-generated content may be incorrect." id="54" name="Google Shape;54;p4"/>
          <p:cNvPicPr preferRelativeResize="0"/>
          <p:nvPr/>
        </p:nvPicPr>
        <p:blipFill rotWithShape="1">
          <a:blip r:embed="rId4">
            <a:alphaModFix/>
          </a:blip>
          <a:srcRect b="53703" l="26755" r="27844" t="2451"/>
          <a:stretch/>
        </p:blipFill>
        <p:spPr>
          <a:xfrm>
            <a:off x="1879018" y="4336133"/>
            <a:ext cx="395331" cy="3817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3924234" y="4344687"/>
            <a:ext cx="1809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Email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3924213" y="4498585"/>
            <a:ext cx="22728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358D"/>
                </a:solidFill>
              </a:rPr>
              <a:t>aditizasha@gmail.com</a:t>
            </a:r>
            <a:endParaRPr b="1" sz="1200">
              <a:solidFill>
                <a:srgbClr val="0D358D"/>
              </a:solidFill>
            </a:endParaRPr>
          </a:p>
          <a:p>
            <a:pPr indent="0" lvl="0" marL="0" marR="0" rtl="0" algn="l">
              <a:lnSpc>
                <a:spcPct val="16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D358D"/>
              </a:solidFill>
            </a:endParaRPr>
          </a:p>
        </p:txBody>
      </p:sp>
      <p:pic>
        <p:nvPicPr>
          <p:cNvPr descr="A blue circle with a person and a envelope in it&#10;&#10;AI-generated content may be incorrect." id="57" name="Google Shape;57;p4"/>
          <p:cNvPicPr preferRelativeResize="0"/>
          <p:nvPr/>
        </p:nvPicPr>
        <p:blipFill rotWithShape="1">
          <a:blip r:embed="rId4">
            <a:alphaModFix/>
          </a:blip>
          <a:srcRect b="2350" l="26858" r="26876" t="52379"/>
          <a:stretch/>
        </p:blipFill>
        <p:spPr>
          <a:xfrm>
            <a:off x="3465773" y="4315400"/>
            <a:ext cx="398280" cy="3897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697109" y="4344676"/>
            <a:ext cx="2281100" cy="311759"/>
            <a:chOff x="2976349" y="4302882"/>
            <a:chExt cx="2281100" cy="311759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2976349" y="4302882"/>
              <a:ext cx="1809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Mentor Name</a:t>
              </a:r>
              <a:endParaRPr/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2984649" y="4429841"/>
              <a:ext cx="227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69833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1200">
                  <a:solidFill>
                    <a:srgbClr val="0D358D"/>
                  </a:solidFill>
                </a:rPr>
                <a:t>Abdul Aziz Md</a:t>
              </a:r>
              <a:endParaRPr/>
            </a:p>
          </p:txBody>
        </p:sp>
      </p:grpSp>
      <p:pic>
        <p:nvPicPr>
          <p:cNvPr id="61" name="Google Shape;61;p4"/>
          <p:cNvPicPr preferRelativeResize="0"/>
          <p:nvPr/>
        </p:nvPicPr>
        <p:blipFill rotWithShape="1">
          <a:blip r:embed="rId5">
            <a:alphaModFix/>
          </a:blip>
          <a:srcRect b="49508" l="28111" r="28549" t="6548"/>
          <a:stretch/>
        </p:blipFill>
        <p:spPr>
          <a:xfrm>
            <a:off x="273868" y="4336498"/>
            <a:ext cx="375816" cy="381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4"/>
          <p:cNvGrpSpPr/>
          <p:nvPr/>
        </p:nvGrpSpPr>
        <p:grpSpPr>
          <a:xfrm>
            <a:off x="640726" y="769742"/>
            <a:ext cx="3051619" cy="258614"/>
            <a:chOff x="1068621" y="826472"/>
            <a:chExt cx="2166266" cy="183583"/>
          </a:xfrm>
        </p:grpSpPr>
        <p:pic>
          <p:nvPicPr>
            <p:cNvPr descr="A blue and black logo&#10;&#10;AI-generated content may be incorrect." id="63" name="Google Shape;6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8621" y="826472"/>
              <a:ext cx="632878" cy="1588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logo&#10;&#10;AI-generated content may be incorrect." id="64" name="Google Shape;64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70437" y="826472"/>
              <a:ext cx="564450" cy="1835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4"/>
          <p:cNvSpPr/>
          <p:nvPr/>
        </p:nvSpPr>
        <p:spPr>
          <a:xfrm rot="-3403925">
            <a:off x="5802911" y="2309481"/>
            <a:ext cx="2834539" cy="109833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 rot="-3404085">
            <a:off x="6146381" y="2413715"/>
            <a:ext cx="2468844" cy="109833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 rot="-3404301">
            <a:off x="6482076" y="2528625"/>
            <a:ext cx="2103149" cy="109833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 rot="-3404111">
            <a:off x="6735659" y="2647196"/>
            <a:ext cx="1872165" cy="116323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8">
            <a:alphaModFix/>
          </a:blip>
          <a:srcRect b="19730" l="0" r="0" t="0"/>
          <a:stretch/>
        </p:blipFill>
        <p:spPr>
          <a:xfrm>
            <a:off x="173754" y="1046557"/>
            <a:ext cx="3854254" cy="184952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 txBox="1"/>
          <p:nvPr/>
        </p:nvSpPr>
        <p:spPr>
          <a:xfrm>
            <a:off x="68461" y="3462539"/>
            <a:ext cx="544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1B3A8A"/>
                </a:solidFill>
              </a:rPr>
              <a:t>ICICI Bank: AI-Driven Dashboard for Customer Financial Health &amp; Risk Analysis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Outline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Abstract of the Project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Live Demo of the Project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Embedded Video of Project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Future Scope</a:t>
            </a:r>
            <a:endParaRPr/>
          </a:p>
        </p:txBody>
      </p:sp>
      <p:pic>
        <p:nvPicPr>
          <p:cNvPr descr="A screen shot of a computer&#10;&#10;AI-generated content may be incorrect." id="78" name="Google Shape;78;p5"/>
          <p:cNvPicPr preferRelativeResize="0"/>
          <p:nvPr/>
        </p:nvPicPr>
        <p:blipFill rotWithShape="1">
          <a:blip r:embed="rId3">
            <a:alphaModFix/>
          </a:blip>
          <a:srcRect b="28715" l="25250" r="18976" t="7320"/>
          <a:stretch/>
        </p:blipFill>
        <p:spPr>
          <a:xfrm>
            <a:off x="5378824" y="1034325"/>
            <a:ext cx="2868706" cy="3290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Abstract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25251" y="1082800"/>
            <a:ext cx="56346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project focuses on analyzing banking customer data using AI-powered tools and data visualization.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objective is to monitor customer financial health, identify high-risk and inactive accounts, and track loan exposure.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Tools used: Microsoft Excel, Power BI, ChatGPT, and Microsoft Copilot.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project delivers an interactive dashboard for better decision-making and risk management.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highlight: AI-assisted insights for identifying financial patterns and improving customer engagement.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814470" y="1082801"/>
            <a:ext cx="3070450" cy="2997875"/>
          </a:xfrm>
          <a:custGeom>
            <a:rect b="b" l="l" r="r" t="t"/>
            <a:pathLst>
              <a:path extrusionOk="0" h="4017541" w="4114800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8151" y="873760"/>
            <a:ext cx="3947240" cy="394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125240" y="1082801"/>
            <a:ext cx="47628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Banks generate massive customer data but it is underutilized due to lack of centralized analysis.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Difficulty in identifying inactive accounts and high-risk customers.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Challenges in tracking loan exposure and customer segmentation.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Lack of tools to monitor financial health and detect unusual activity.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Existing systems do not provide actionable insights for decision-making.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0286" y="725532"/>
            <a:ext cx="4903714" cy="4203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t/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Develop an AI-driven dashboard using Power BI for customer analytics.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Clean and preprocess data using Excel.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Analyze customer activity, loan exposure, and risk levels.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Use AI tools (ChatGPT, Copilot) to generate insights and recommendations.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Provide a centralized system for better financial monitoring and decision-making.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Input / Source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Simulated dataset of 1600 ICICI Bank customers.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Processing / Analysis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Data cleaning and preprocessing using Excel.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Analysis using Power BI.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 / Tool Integration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ChatGPT and Microsoft Copilot for insights.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Power BI for visualization.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Output / Dashboard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Interactive dashboard with KPIs, charts, and customer insights.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120623" y="60729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Live Demo of Project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25487" y="1105839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Here's the list of some demo screenshots / features of the project: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199925" y="1617425"/>
            <a:ext cx="2863200" cy="323100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120625" y="1829150"/>
            <a:ext cx="293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1 Dashboard Overview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228600" y="2338675"/>
            <a:ext cx="28344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Displays a comprehensive Power BI dashboard with key performance indicators such as total customers, total current balance, total loan amount, and average balance.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Provides insights into customer segmentation, loan exposure, risk distribution, and account activity (active vs inactive).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Enables quick analysis of customer financial health and supports data-driven decision-making for banking operations.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163056" y="2413802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10" title="Capture Dashboar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775" y="1593525"/>
            <a:ext cx="5857224" cy="32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>
            <a:off x="120623" y="60729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Live Demo of Project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125487" y="1105839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Here's the list of some demo screenshots / features of the project: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274327" y="1648225"/>
            <a:ext cx="3921000" cy="320040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330875" y="1710750"/>
            <a:ext cx="3807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2 Customer Segment-wise Balance Distribution by Account Type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378125" y="2307324"/>
            <a:ext cx="37134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Segment-wise Balance Distribution by Account Type.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Shows distribution of current balance across different customer segments (Corporate, SME, Retail) and account types (Business, Current, Salary, Savings).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Helps identify which customer segment and account type contribute the most to total balance.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Provides insights into customer financial behavior for better segmentation and targeting.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Lato"/>
              <a:buChar char="●"/>
            </a:pPr>
            <a:r>
              <a:t/>
            </a: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163056" y="2413802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11" title="Capture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25" y="1648225"/>
            <a:ext cx="4412825" cy="3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120623" y="60729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Live Demo of Project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25487" y="1105839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Here's the list of some demo screenshots / features of the project: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274376" y="1698700"/>
            <a:ext cx="3265200" cy="315000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243775" y="1769800"/>
            <a:ext cx="32652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3 Customer Risk Distribution &amp; Active vs Inactive Account Analysis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47575" y="2298100"/>
            <a:ext cx="30576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Displays the distribution of customers across different risk categories (Low, Medium, High) with percentage representation.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Shows active and inactive account status to identify customer engagement levels.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Helps in identifying high-risk and inactive customers, supporting better risk management and retention strategies.</a:t>
            </a:r>
            <a:endParaRPr sz="1300"/>
          </a:p>
        </p:txBody>
      </p:sp>
      <p:sp>
        <p:nvSpPr>
          <p:cNvPr id="162" name="Google Shape;162;p12"/>
          <p:cNvSpPr/>
          <p:nvPr/>
        </p:nvSpPr>
        <p:spPr>
          <a:xfrm>
            <a:off x="6163056" y="2413802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12" title="Capture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575" y="2177970"/>
            <a:ext cx="5285275" cy="2191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3A8A"/>
                </a:solidFill>
                <a:latin typeface="Calibri"/>
                <a:ea typeface="Calibri"/>
                <a:cs typeface="Calibri"/>
                <a:sym typeface="Calibri"/>
              </a:rPr>
              <a:t>Video of Project Demo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cap="flat" cmpd="sng" w="25400">
            <a:solidFill>
              <a:srgbClr val="1B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[https://your-project-demo-link.com]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[Insert your project demo video.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You can embed a video your live project.]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3" title="WhatsApp Video 2026-04-06 at 01.46.2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The project successfully developed an AI-driven dashboard for banking analytics.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It helps identify high-risk customers and inactive accounts.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Provides insights into loan exposure and customer financial health.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Supports better decision-making and risk management.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Project objectives were successfully achieved.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blue circle with a pencil and paper with a star on it&#10;&#10;AI-generated content may be incorrect." id="190" name="Google Shape;190;p14"/>
          <p:cNvPicPr preferRelativeResize="0"/>
          <p:nvPr/>
        </p:nvPicPr>
        <p:blipFill rotWithShape="1">
          <a:blip r:embed="rId3">
            <a:alphaModFix/>
          </a:blip>
          <a:srcRect b="29752" l="25397" r="26825" t="26296"/>
          <a:stretch/>
        </p:blipFill>
        <p:spPr>
          <a:xfrm>
            <a:off x="4898406" y="971550"/>
            <a:ext cx="3597456" cy="330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Future Scope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Integration with real-time banking data.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Use of machine learning for risk prediction.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Advanced fraud detection systems.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Personalized banking recommendations.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Cloud-based deployment for scalability.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Lato"/>
              <a:buNone/>
            </a:pPr>
            <a:r>
              <a:t/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1635" y="879613"/>
            <a:ext cx="4512365" cy="338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</a:pPr>
            <a:r>
              <a:rPr lang="en-US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AICW Fellowship  |  Student Project Presentation 2026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LinkedIn  |   Edunet Foundation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3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D358D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